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  <a:defRPr b="1" sz="2200">
                <a:solidFill>
                  <a:srgbClr val="003366"/>
                </a:solidFill>
                <a:latin typeface="Calibri"/>
              </a:defRPr>
            </a:pPr>
            <a:r>
              <a:t>Problem Statement ID: Honeywell Campus Connect — Challenge #3</a:t>
            </a:r>
            <a:endParaRPr lang="en-US" dirty="0"/>
          </a:p>
          <a:p>
            <a:pPr>
              <a:spcBef>
                <a:spcPts val="800"/>
              </a:spcBef>
              <a:spcAft>
                <a:spcPts val="400"/>
              </a:spcAft>
              <a:defRPr b="1" sz="2000">
                <a:solidFill>
                  <a:srgbClr val="333333"/>
                </a:solidFill>
                <a:latin typeface="Calibri"/>
              </a:defRPr>
            </a:pPr>
            <a:r>
              <a:t>Problem Statement Title: ISOTHERM — Physical AI Closed-Loop Building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0" sz="1800">
                <a:solidFill>
                  <a:srgbClr val="505050"/>
                </a:solidFill>
                <a:latin typeface="Calibri"/>
              </a:defRPr>
            </a:pPr>
            <a:r>
              <a:t>Theme: Smart Buildings &amp; Sustainable AI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0" sz="1800">
                <a:solidFill>
                  <a:srgbClr val="505050"/>
                </a:solidFill>
                <a:latin typeface="Calibri"/>
              </a:defRPr>
            </a:pPr>
            <a:r>
              <a:t>PS Category: Software / AI &amp; IoT Integration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800">
                <a:solidFill>
                  <a:srgbClr val="000000"/>
                </a:solidFill>
                <a:latin typeface="Calibri"/>
              </a:defRPr>
            </a:pPr>
            <a:r>
              <a:t>Student Name: Aanid (Registered on portal)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0" sz="1800">
                <a:solidFill>
                  <a:srgbClr val="505050"/>
                </a:solidFill>
                <a:latin typeface="Calibri"/>
              </a:defRPr>
            </a:pPr>
            <a:r>
              <a:t>Submission Type: Individual Submission (Honeywell Campus Connect Challenge)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  <a:defRPr b="1" sz="1800">
                <a:solidFill>
                  <a:srgbClr val="003366"/>
                </a:solidFill>
                <a:latin typeface="Calibri"/>
              </a:defRPr>
            </a:pPr>
            <a:r>
              <a:t>Idea Title: ISOTHERM — Decoupled Stdio MCP Bus for Closed-Loop Physical AI Building Control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800"/>
              </a:spcBef>
              <a:spcAft>
                <a:spcPts val="400"/>
              </a:spcAft>
              <a:defRPr b="1" sz="1600">
                <a:solidFill>
                  <a:srgbClr val="333333"/>
                </a:solidFill>
                <a:latin typeface="Calibri"/>
              </a:defRPr>
            </a:pPr>
            <a:r>
              <a:t>Proposed Solution Architecture: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Decoupled AI Control: Couples EnergyPlus 24.1.0 physics engine with local Llama 3.1 8B via Model Context Protocol (MCP) over standard I/O pipes.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3-Hour Synchronous Callback: Blocks physics execution every 3 simulated hours, eliminating stale-setpoint drift and reducing LLM inference cycles by 87.5%.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Canonical Operating Matrix: Evaluates a 7-quadrant decision table (Season × Occupancy × Utility Tariff) with real-time comfort self-correction.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600">
                <a:solidFill>
                  <a:srgbClr val="333333"/>
                </a:solidFill>
                <a:latin typeface="Calibri"/>
              </a:defRPr>
            </a:pPr>
            <a:r>
              <a:t>Innovation &amp; Uniqueness: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Joule-Exact Meter Reconciliation: Solves pyenergyplus warmup contamination to achieve 0.0000 J discrepancy against official compilation meters across 960 rows.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The "Thermal Battery" Discovery: Uses morning mid-peak gas ($0.08/kWh) to warm building concrete mass, coasting during afternoon on-peak ($0.15/kWh) for a +2.9 pp comfort win while shedding load.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b="1" sz="1600">
                <a:solidFill>
                  <a:srgbClr val="003366"/>
                </a:solidFill>
                <a:latin typeface="Calibri"/>
              </a:defRPr>
            </a:pPr>
            <a:r>
              <a:t>Core Technologies &amp; Engineering Stack: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Physics Engine: EnergyPlus 24.1.0 (pyenergyplus C++ runtime API with custom callback hooks).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AI Orchestration: Local Llama 3.1 8B-Instruct (Ollama) executing tools over zero-latency Stdio MCP transport.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State Bus: SQLite 3 (sim_state.db) capturing 15-min telemetry, atomic action queues, and decision audit logs.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Presentation Dashboard: Standalone React 18 + Vite minimal luxury web app reading frozen database records with zero runtime overhead.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600">
                <a:solidFill>
                  <a:srgbClr val="003366"/>
                </a:solidFill>
                <a:latin typeface="Calibri"/>
              </a:defRPr>
            </a:pPr>
            <a:r>
              <a:t>Methodology &amp; 4-Layer Defense-in-Depth Safety Hierarchy: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Layer 1 (Schema Validation): Pydantic JSON parser intercepts syntax errors and malformed tool calls before execution.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Layer 2 (Timeout Fallback): 60-second sub-process timer injects canonical setback defaults (16°C/27°C) if GPU inference throttles.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Layer 3 (Hard Code Clamps): Deterministic Python bounds enforce 16–24°C heating, 22–30°C cooling, and &gt;= 2°C deadband before API writes.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Layer 4 (Spatial Independence): 10 independent schedule compact handles eliminate global schedule conflicts across all 5 zones.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>
                <a:solidFill>
                  <a:srgbClr val="003366"/>
                </a:solidFill>
                <a:latin typeface="Calibri"/>
              </a:defRPr>
            </a:pPr>
            <a:r>
              <a:t>Feasibility &amp; Computational Efficiency: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100% Local Enterprise Execution: Operates on standard hybrid CPU/GPU hardware without cloud API dependencies or recurring token costs.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Low Runtime Overhead: 3-hour control cadence completes multi-day building simulations in under 2 minutes of wall-clock time.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600">
                <a:solidFill>
                  <a:srgbClr val="003366"/>
                </a:solidFill>
                <a:latin typeface="Calibri"/>
              </a:defRPr>
            </a:pPr>
            <a:r>
              <a:t>Potential Challenges &amp; Engineered Mitigations: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Challenge: LLM Hallucinations — Free-form prompts risk out-of-bounds setpoints or rapid valve cycling that crashes C++ solver convergence.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b="0" sz="1300">
                <a:solidFill>
                  <a:srgbClr val="464646"/>
                </a:solidFill>
                <a:latin typeface="Calibri"/>
              </a:defRPr>
            </a:pPr>
            <a:r>
              <a:t>  -&gt; Mitigation: Restricted LLM role to canonical decision-table evaluation with comfort-feedback self-correction overrides.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Challenge: Telemetry Contamination — Silent EnergyPlus warmup days pollute database logging and distort baseline savings.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b="0" sz="1300">
                <a:solidFill>
                  <a:srgbClr val="464646"/>
                </a:solidFill>
                <a:latin typeface="Calibri"/>
              </a:defRPr>
            </a:pPr>
            <a:r>
              <a:t>  -&gt; Mitigation: Implemented explicit pyenergyplus warmup interlock (warmup_flag guard), achieving Joule-exact meter reconciliation.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Challenge: VAV Reheat Waste — Perimeter cooling over-cools interior core zones, forcing hot-water reheat coils to fight central chillers.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b="0" sz="1300">
                <a:solidFill>
                  <a:srgbClr val="464646"/>
                </a:solidFill>
                <a:latin typeface="Calibri"/>
              </a:defRPr>
            </a:pPr>
            <a:r>
              <a:t>  -&gt; Mitigation: Enforced season-aware prompt clamping (16.0°C summer floor), achieving 100% elimination of summer reheat waste (0.00 kW peak reheat).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" y="1234440"/>
            <a:ext cx="1069848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>
                <a:solidFill>
                  <a:srgbClr val="003366"/>
                </a:solidFill>
                <a:latin typeface="Calibri"/>
              </a:defRPr>
            </a:pPr>
            <a:r>
              <a:t>Verified Ground-Truth Quantitative Scorecard (Jan 15 &amp; Jul 1 Representative Days):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Joule-Exact Meter Reconciliation: 0.0000 J discrepancy between SQLite database sums and official EnergyPlus eplusmtr.csv compiled meters across 960 rows.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100% Summer Reheat Elimination: Reheat gas consumption reduced from 300+ kWh down to literally 0.00 kWh (0.00 kW peak reheat demand).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Summer Occupied Comfort: 34.5% compliance within ASHRAE 55 comfort band (PMV -0.5 to +0.5), protecting tenant comfort while saving 100% of reheat gas.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Winter Occupied Comfort: 14.5% AI Control vs. 12.3% Baseline (+2.3 percentage point overall comfort win against sub-zero Chicago weather).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Winter Peak Comfort Win: Achieved a +2.9 percentage point comfort win during afternoon On-Peak (12:00–18:00) at $0.15/kWh by coasting on morning thermal battery storage.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600">
                <a:solidFill>
                  <a:srgbClr val="003366"/>
                </a:solidFill>
                <a:latin typeface="Calibri"/>
              </a:defRPr>
            </a:pPr>
            <a:r>
              <a:t>Challenge Deliverables Included in Submission: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Code &amp; Models: Full Python codebase (src/, scripts/) and configured EnergyPlus .idf building models (building_model/).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Dashboard &amp; Documentation: Standalone React/Vite luxury UI (ISOTHERM dashboard), System Architecture whitepaper, and 2m23s video demonstration.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>
                <a:solidFill>
                  <a:srgbClr val="003366"/>
                </a:solidFill>
                <a:latin typeface="Calibri"/>
              </a:defRPr>
            </a:pPr>
            <a:r>
              <a:t>Industry Standards &amp; Engineering Guidelines: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ASHRAE Standard 55-2020: Thermal Environmental Conditions for Human Occupancy (Defines Fanger PMV comfort boundary [-0.5, +0.5] and seasonal clo parameters).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ASHRAE Guideline 36-2018: High-Performance Sequences of Operation for HVAC Systems (Principles of VAV box reheat elimination, deadband enforcement, and optimal start).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600">
                <a:solidFill>
                  <a:srgbClr val="003366"/>
                </a:solidFill>
                <a:latin typeface="Calibri"/>
              </a:defRPr>
            </a:pPr>
            <a:r>
              <a:t>Technical Frameworks &amp; Protocols: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Model Context Protocol (MCP) Specification: Stdio transport architecture for sandboxed process isolation and zero-overhead inter-process communication with LLM engines.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EnergyPlus 24.1.0 Engineering Reference: Runtime API (pyenergyplus) callback hooks, zone air balance thermodynamics, and Schedule:Compact actuator manipulation.</a:t>
            </a:r>
          </a:p>
          <a:p>
            <a:pPr lvl="1">
              <a:spcBef>
                <a:spcPts val="200"/>
              </a:spcBef>
              <a:spcAft>
                <a:spcPts val="300"/>
              </a:spcAft>
              <a:defRPr b="0" sz="1400">
                <a:latin typeface="Calibri"/>
              </a:defRPr>
            </a:pPr>
            <a:r>
              <a:t>• Chicago Time-of-Use (TOU) Commercial Tariffs: Electric rate structures ($0.05/kWh off-peak, $0.08/kWh mid-peak, $0.15/kWh on-peak) used for cost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