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8" r:id="rId2"/>
    <p:sldId id="281" r:id="rId3"/>
    <p:sldId id="290" r:id="rId4"/>
    <p:sldId id="293" r:id="rId5"/>
    <p:sldId id="299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29" y="24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7/26/2026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F277-D966-5891-8E8E-FE1852E6B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63166A99-EAE2-2E28-993F-D5871297B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4ED88F3D-7791-59C8-716F-0AAD4C669A9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CC82298B-112C-33CB-5F98-D6F1C4A4C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730513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7/26/2026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7/26/2026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7/26/2026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7/26/2026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7/26/2026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7/26/2026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A033A5-F70E-7E73-0B8C-FA62C08DE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99EC04-BCF1-5A69-7D5A-95D43C976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6" name="Subtitle 3">
            <a:extLst>
              <a:ext uri="{FF2B5EF4-FFF2-40B4-BE49-F238E27FC236}">
                <a16:creationId xmlns:a16="http://schemas.microsoft.com/office/drawing/2014/main" id="{E0A8E5C6-6BFC-01E5-DDF5-B6A7738A64F4}"/>
              </a:ext>
            </a:extLst>
          </p:cNvPr>
          <p:cNvSpPr txBox="1">
            <a:spLocks/>
          </p:cNvSpPr>
          <p:nvPr/>
        </p:nvSpPr>
        <p:spPr bwMode="auto">
          <a:xfrm>
            <a:off x="1415369" y="-365784"/>
            <a:ext cx="8534400" cy="1752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ＭＳ Ｐゴシック" charset="0"/>
              </a:defRPr>
            </a:lvl1pPr>
            <a:lvl2pPr marL="4572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2pPr>
            <a:lvl3pPr marL="9144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3pPr>
            <a:lvl4pPr marL="13716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4pPr>
            <a:lvl5pPr marL="18288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19C992-F871-8F62-9E59-574D7119AE3E}"/>
              </a:ext>
            </a:extLst>
          </p:cNvPr>
          <p:cNvSpPr txBox="1"/>
          <p:nvPr/>
        </p:nvSpPr>
        <p:spPr>
          <a:xfrm>
            <a:off x="1036066" y="754935"/>
            <a:ext cx="10293350" cy="46866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–01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ISOTHERM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- Eco-Loop Building Agents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  <a:r>
              <a:rPr lang="en-IN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N" sz="2400" dirty="0"/>
              <a:t>AI-Powered Autonomous Smart Building Optimization Challenge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Student Name –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Aanidhya Patidar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Student ID –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23BAI10642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98847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883920" y="1400305"/>
            <a:ext cx="10698480" cy="50295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300"/>
              </a:spcAft>
              <a:defRPr sz="1800" b="1">
                <a:solidFill>
                  <a:srgbClr val="003366"/>
                </a:solidFill>
                <a:latin typeface="Calibri"/>
              </a:defRPr>
            </a:pPr>
            <a:r>
              <a:rPr sz="2100" dirty="0"/>
              <a:t>Idea Title: ISOTHERM — Decoupled </a:t>
            </a:r>
            <a:r>
              <a:rPr sz="2100" dirty="0" err="1"/>
              <a:t>Stdio</a:t>
            </a:r>
            <a:r>
              <a:rPr sz="2100" dirty="0"/>
              <a:t> MCP Bus for Closed-Loop Physical AI Building Control</a:t>
            </a:r>
            <a:endParaRPr lang="en-US" sz="2100" u="sng" dirty="0">
              <a:latin typeface="Arial" pitchFamily="34" charset="0"/>
              <a:cs typeface="Arial" pitchFamily="34" charset="0"/>
            </a:endParaRPr>
          </a:p>
          <a:p>
            <a:pPr>
              <a:spcBef>
                <a:spcPts val="800"/>
              </a:spcBef>
              <a:spcAft>
                <a:spcPts val="400"/>
              </a:spcAft>
              <a:defRPr sz="1600" b="1">
                <a:solidFill>
                  <a:srgbClr val="333333"/>
                </a:solidFill>
                <a:latin typeface="Calibri"/>
              </a:defRPr>
            </a:pPr>
            <a:r>
              <a:rPr sz="2000" dirty="0"/>
              <a:t>Proposed Solution Architecture:</a:t>
            </a:r>
          </a:p>
          <a:p>
            <a:pPr lvl="1">
              <a:spcBef>
                <a:spcPts val="200"/>
              </a:spcBef>
              <a:spcAft>
                <a:spcPts val="300"/>
              </a:spcAft>
              <a:defRPr sz="1400" b="0">
                <a:latin typeface="Calibri"/>
              </a:defRPr>
            </a:pPr>
            <a:r>
              <a:rPr sz="2000" dirty="0"/>
              <a:t>• Decoupled AI Control: Couples </a:t>
            </a:r>
            <a:r>
              <a:rPr sz="2000" dirty="0" err="1"/>
              <a:t>EnergyPlus</a:t>
            </a:r>
            <a:r>
              <a:rPr sz="2000" dirty="0"/>
              <a:t> 24.1.0 physics engine with local Llama 3.1 8B via Model Context Protocol (MCP) over standard I/O pipes.</a:t>
            </a:r>
          </a:p>
          <a:p>
            <a:pPr lvl="1">
              <a:spcBef>
                <a:spcPts val="200"/>
              </a:spcBef>
              <a:spcAft>
                <a:spcPts val="300"/>
              </a:spcAft>
              <a:defRPr sz="1400" b="0">
                <a:latin typeface="Calibri"/>
              </a:defRPr>
            </a:pPr>
            <a:r>
              <a:rPr sz="2000" dirty="0"/>
              <a:t>• 3-Hour Synchronous Callback: Blocks physics execution every 3 simulated hours, eliminating stale-setpoint drift and reducing LLM inference cycles by 87.5%.</a:t>
            </a:r>
          </a:p>
          <a:p>
            <a:pPr lvl="1">
              <a:spcBef>
                <a:spcPts val="200"/>
              </a:spcBef>
              <a:spcAft>
                <a:spcPts val="300"/>
              </a:spcAft>
              <a:defRPr sz="1400" b="0">
                <a:latin typeface="Calibri"/>
              </a:defRPr>
            </a:pPr>
            <a:r>
              <a:rPr sz="2000" dirty="0"/>
              <a:t>• Canonical Operating Matrix: Evaluates a 7-quadrant decision table (Season × Occupancy × Utility Tariff) with real-time comfort self-correction.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 b="1">
                <a:solidFill>
                  <a:srgbClr val="333333"/>
                </a:solidFill>
                <a:latin typeface="Calibri"/>
              </a:defRPr>
            </a:pPr>
            <a:r>
              <a:rPr sz="2000" dirty="0"/>
              <a:t>Innovation &amp; Uniqueness:</a:t>
            </a:r>
          </a:p>
          <a:p>
            <a:pPr lvl="1">
              <a:spcBef>
                <a:spcPts val="200"/>
              </a:spcBef>
              <a:spcAft>
                <a:spcPts val="300"/>
              </a:spcAft>
              <a:defRPr sz="1400" b="0">
                <a:latin typeface="Calibri"/>
              </a:defRPr>
            </a:pPr>
            <a:r>
              <a:rPr sz="2000" dirty="0"/>
              <a:t>• Joule-Exact Meter Reconciliation: Solves </a:t>
            </a:r>
            <a:r>
              <a:rPr sz="2000" dirty="0" err="1"/>
              <a:t>pyenergyplus</a:t>
            </a:r>
            <a:r>
              <a:rPr sz="2000" dirty="0"/>
              <a:t> warmup contamination to achieve 0.0000 J discrepancy against official compilation meters across 960 rows.</a:t>
            </a:r>
          </a:p>
          <a:p>
            <a:pPr lvl="1">
              <a:spcBef>
                <a:spcPts val="200"/>
              </a:spcBef>
              <a:spcAft>
                <a:spcPts val="300"/>
              </a:spcAft>
              <a:defRPr sz="1400" b="0">
                <a:latin typeface="Calibri"/>
              </a:defRPr>
            </a:pPr>
            <a:r>
              <a:rPr sz="2000" dirty="0"/>
              <a:t>• The "Thermal Battery" Discovery: Uses morning mid-peak gas ($0.08/kWh) to warm building concrete mass, coasting during afternoon on-peak ($0.15/kWh) for a +2.9 pp comfort win while shedding load.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792480" y="1095375"/>
            <a:ext cx="11301984" cy="4206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200"/>
              </a:spcBef>
              <a:spcAft>
                <a:spcPts val="300"/>
              </a:spcAft>
              <a:defRPr sz="1600" b="1">
                <a:solidFill>
                  <a:srgbClr val="003366"/>
                </a:solidFill>
                <a:latin typeface="Calibri"/>
              </a:defRPr>
            </a:pPr>
            <a:r>
              <a:rPr sz="1600" dirty="0"/>
              <a:t>Core Technologies &amp; Engineering Stack:</a:t>
            </a:r>
          </a:p>
          <a:p>
            <a:pPr lvl="1">
              <a:spcBef>
                <a:spcPts val="200"/>
              </a:spcBef>
              <a:spcAft>
                <a:spcPts val="300"/>
              </a:spcAft>
              <a:defRPr sz="1400" b="0">
                <a:latin typeface="Calibri"/>
              </a:defRPr>
            </a:pPr>
            <a:r>
              <a:rPr sz="1600" dirty="0"/>
              <a:t>• Physics Engine: </a:t>
            </a:r>
            <a:r>
              <a:rPr sz="1600" dirty="0" err="1"/>
              <a:t>EnergyPlus</a:t>
            </a:r>
            <a:r>
              <a:rPr sz="1600" dirty="0"/>
              <a:t> 24.1.0 (</a:t>
            </a:r>
            <a:r>
              <a:rPr sz="1600" dirty="0" err="1"/>
              <a:t>pyenergyplus</a:t>
            </a:r>
            <a:r>
              <a:rPr sz="1600" dirty="0"/>
              <a:t> C++ runtime API with custom callback hooks).</a:t>
            </a:r>
          </a:p>
          <a:p>
            <a:pPr lvl="1">
              <a:spcBef>
                <a:spcPts val="200"/>
              </a:spcBef>
              <a:spcAft>
                <a:spcPts val="300"/>
              </a:spcAft>
              <a:defRPr sz="1400" b="0">
                <a:latin typeface="Calibri"/>
              </a:defRPr>
            </a:pPr>
            <a:r>
              <a:rPr sz="1600" dirty="0"/>
              <a:t>• AI Orchestration: Local Llama 3.1 8B-Instruct (</a:t>
            </a:r>
            <a:r>
              <a:rPr sz="1600" dirty="0" err="1"/>
              <a:t>Ollama</a:t>
            </a:r>
            <a:r>
              <a:rPr sz="1600" dirty="0"/>
              <a:t>) executing tools over zero-latency </a:t>
            </a:r>
            <a:r>
              <a:rPr sz="1600" dirty="0" err="1"/>
              <a:t>Stdio</a:t>
            </a:r>
            <a:r>
              <a:rPr sz="1600" dirty="0"/>
              <a:t> MCP transport.</a:t>
            </a:r>
          </a:p>
          <a:p>
            <a:pPr lvl="1">
              <a:spcBef>
                <a:spcPts val="200"/>
              </a:spcBef>
              <a:spcAft>
                <a:spcPts val="300"/>
              </a:spcAft>
              <a:defRPr sz="1400" b="0">
                <a:latin typeface="Calibri"/>
              </a:defRPr>
            </a:pPr>
            <a:r>
              <a:rPr sz="1600" dirty="0"/>
              <a:t>• State Bus: SQLite 3 (</a:t>
            </a:r>
            <a:r>
              <a:rPr sz="1600" dirty="0" err="1"/>
              <a:t>sim_state.db</a:t>
            </a:r>
            <a:r>
              <a:rPr sz="1600" dirty="0"/>
              <a:t>) capturing 15-min telemetry, atomic action queues, and decision audit logs.</a:t>
            </a:r>
          </a:p>
          <a:p>
            <a:pPr lvl="1">
              <a:spcBef>
                <a:spcPts val="200"/>
              </a:spcBef>
              <a:spcAft>
                <a:spcPts val="300"/>
              </a:spcAft>
              <a:defRPr sz="1400" b="0">
                <a:latin typeface="Calibri"/>
              </a:defRPr>
            </a:pPr>
            <a:r>
              <a:rPr sz="1600" dirty="0"/>
              <a:t>• Presentation Dashboard: Standalone React 18 + Vite minimal luxury web app reading frozen database records with zero runtime overhead.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 b="1">
                <a:solidFill>
                  <a:srgbClr val="003366"/>
                </a:solidFill>
                <a:latin typeface="Calibri"/>
              </a:defRPr>
            </a:pPr>
            <a:r>
              <a:rPr sz="1600" dirty="0"/>
              <a:t>Methodology &amp; 4-Layer Defense-in-Depth Safety Hierarchy:</a:t>
            </a:r>
          </a:p>
          <a:p>
            <a:pPr lvl="1">
              <a:spcBef>
                <a:spcPts val="200"/>
              </a:spcBef>
              <a:spcAft>
                <a:spcPts val="300"/>
              </a:spcAft>
              <a:defRPr sz="1400" b="0">
                <a:latin typeface="Calibri"/>
              </a:defRPr>
            </a:pPr>
            <a:r>
              <a:rPr sz="1600" dirty="0"/>
              <a:t>• Layer 1 (Schema Validation): </a:t>
            </a:r>
            <a:r>
              <a:rPr sz="1600" dirty="0" err="1"/>
              <a:t>Pydantic</a:t>
            </a:r>
            <a:r>
              <a:rPr sz="1600" dirty="0"/>
              <a:t> JSON parser intercepts syntax errors and malformed tool calls before execution.</a:t>
            </a:r>
          </a:p>
          <a:p>
            <a:pPr lvl="1">
              <a:spcBef>
                <a:spcPts val="200"/>
              </a:spcBef>
              <a:spcAft>
                <a:spcPts val="300"/>
              </a:spcAft>
              <a:defRPr sz="1400" b="0">
                <a:latin typeface="Calibri"/>
              </a:defRPr>
            </a:pPr>
            <a:r>
              <a:rPr sz="1600" dirty="0"/>
              <a:t>• Layer 2 (Timeout Fallback): 60-second sub-process timer injects canonical setback defaults (16°C/27°C) if GPU inference throttles.</a:t>
            </a:r>
          </a:p>
          <a:p>
            <a:pPr lvl="1">
              <a:spcBef>
                <a:spcPts val="200"/>
              </a:spcBef>
              <a:spcAft>
                <a:spcPts val="300"/>
              </a:spcAft>
              <a:defRPr sz="1400" b="0">
                <a:latin typeface="Calibri"/>
              </a:defRPr>
            </a:pPr>
            <a:r>
              <a:rPr sz="1600" dirty="0"/>
              <a:t>• Layer 3 (Hard Code Clamps): Deterministic Python bounds enforce 16–24°C heating, 22–30°C cooling, and &gt;= 2°C deadband before API writes.</a:t>
            </a:r>
          </a:p>
          <a:p>
            <a:pPr lvl="1">
              <a:spcBef>
                <a:spcPts val="200"/>
              </a:spcBef>
              <a:spcAft>
                <a:spcPts val="300"/>
              </a:spcAft>
              <a:defRPr sz="1400" b="0">
                <a:latin typeface="Calibri"/>
              </a:defRPr>
            </a:pPr>
            <a:r>
              <a:rPr sz="1600" dirty="0"/>
              <a:t>• Layer 4 (Spatial Independence): 10 independent schedule compact handles eliminate global schedule conflicts across all 5 zones.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@SIH Idea submission- Template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746760" y="1095375"/>
            <a:ext cx="10698480" cy="51911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R="0" algn="just" defTabSz="45720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ts val="300"/>
              </a:spcAft>
              <a:buClrTx/>
              <a:buSzTx/>
              <a:tabLst/>
              <a:defRPr sz="1600" b="1">
                <a:solidFill>
                  <a:srgbClr val="003366"/>
                </a:solidFill>
                <a:latin typeface="Calibri"/>
              </a:defRPr>
            </a:pPr>
            <a:r>
              <a:rPr sz="1600" dirty="0"/>
              <a:t>Feasibility &amp; Computational Efficiency: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lvl="1">
              <a:spcBef>
                <a:spcPts val="200"/>
              </a:spcBef>
              <a:spcAft>
                <a:spcPts val="300"/>
              </a:spcAft>
              <a:defRPr sz="1400" b="0">
                <a:latin typeface="Calibri"/>
              </a:defRPr>
            </a:pPr>
            <a:r>
              <a:rPr sz="1600" dirty="0"/>
              <a:t>• 100% Local Enterprise Execution: Operates on standard hybrid CPU/GPU hardware without cloud API dependencies or recurring token costs.</a:t>
            </a:r>
          </a:p>
          <a:p>
            <a:pPr lvl="1">
              <a:spcBef>
                <a:spcPts val="200"/>
              </a:spcBef>
              <a:spcAft>
                <a:spcPts val="300"/>
              </a:spcAft>
              <a:defRPr sz="1400" b="0">
                <a:latin typeface="Calibri"/>
              </a:defRPr>
            </a:pPr>
            <a:r>
              <a:rPr sz="1600" dirty="0"/>
              <a:t>• Low Runtime Overhead: 3-hour control cadence completes multi-day building simulations in under 2 minutes of wall-clock time.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 b="1">
                <a:solidFill>
                  <a:srgbClr val="003366"/>
                </a:solidFill>
                <a:latin typeface="Calibri"/>
              </a:defRPr>
            </a:pPr>
            <a:r>
              <a:rPr sz="1600" dirty="0"/>
              <a:t>Potential Challenges &amp; Engineered Mitigations:</a:t>
            </a:r>
          </a:p>
          <a:p>
            <a:pPr lvl="1">
              <a:spcBef>
                <a:spcPts val="200"/>
              </a:spcBef>
              <a:spcAft>
                <a:spcPts val="300"/>
              </a:spcAft>
              <a:defRPr sz="1400" b="0">
                <a:latin typeface="Calibri"/>
              </a:defRPr>
            </a:pPr>
            <a:r>
              <a:rPr sz="1600" dirty="0"/>
              <a:t>• Challenge: LLM Hallucinations — Free-form prompts risk out-of-bounds setpoints or rapid valve cycling that crashes C++ solver convergence.</a:t>
            </a:r>
          </a:p>
          <a:p>
            <a:pPr lvl="2">
              <a:spcBef>
                <a:spcPts val="200"/>
              </a:spcBef>
              <a:spcAft>
                <a:spcPts val="300"/>
              </a:spcAft>
              <a:defRPr sz="1300" b="0">
                <a:solidFill>
                  <a:srgbClr val="464646"/>
                </a:solidFill>
                <a:latin typeface="Calibri"/>
              </a:defRPr>
            </a:pPr>
            <a:r>
              <a:rPr sz="1600" dirty="0"/>
              <a:t>  -&gt; Mitigation: Restricted LLM role to canonical decision-table evaluation with comfort-feedback self-correction overrides.</a:t>
            </a:r>
          </a:p>
          <a:p>
            <a:pPr lvl="1">
              <a:spcBef>
                <a:spcPts val="200"/>
              </a:spcBef>
              <a:spcAft>
                <a:spcPts val="300"/>
              </a:spcAft>
              <a:defRPr sz="1400" b="0">
                <a:latin typeface="Calibri"/>
              </a:defRPr>
            </a:pPr>
            <a:r>
              <a:rPr sz="1600" dirty="0"/>
              <a:t>• Challenge: Telemetry Contamination — Silent </a:t>
            </a:r>
            <a:r>
              <a:rPr sz="1600" dirty="0" err="1"/>
              <a:t>EnergyPlus</a:t>
            </a:r>
            <a:r>
              <a:rPr sz="1600" dirty="0"/>
              <a:t> warmup days pollute database logging and distort baseline savings.</a:t>
            </a:r>
          </a:p>
          <a:p>
            <a:pPr lvl="2">
              <a:spcBef>
                <a:spcPts val="200"/>
              </a:spcBef>
              <a:spcAft>
                <a:spcPts val="300"/>
              </a:spcAft>
              <a:defRPr sz="1300" b="0">
                <a:solidFill>
                  <a:srgbClr val="464646"/>
                </a:solidFill>
                <a:latin typeface="Calibri"/>
              </a:defRPr>
            </a:pPr>
            <a:r>
              <a:rPr sz="1600" dirty="0"/>
              <a:t>  -&gt; Mitigation: Implemented explicit </a:t>
            </a:r>
            <a:r>
              <a:rPr sz="1600" dirty="0" err="1"/>
              <a:t>pyenergyplus</a:t>
            </a:r>
            <a:r>
              <a:rPr sz="1600" dirty="0"/>
              <a:t> warmup interlock (</a:t>
            </a:r>
            <a:r>
              <a:rPr sz="1600" dirty="0" err="1"/>
              <a:t>warmup_flag</a:t>
            </a:r>
            <a:r>
              <a:rPr sz="1600" dirty="0"/>
              <a:t> guard), achieving Joule-exact meter reconciliation.</a:t>
            </a:r>
          </a:p>
          <a:p>
            <a:pPr lvl="1">
              <a:spcBef>
                <a:spcPts val="200"/>
              </a:spcBef>
              <a:spcAft>
                <a:spcPts val="300"/>
              </a:spcAft>
              <a:defRPr sz="1400" b="0">
                <a:latin typeface="Calibri"/>
              </a:defRPr>
            </a:pPr>
            <a:r>
              <a:rPr sz="1600" dirty="0"/>
              <a:t>• Challenge: VAV Reheat Waste — Perimeter cooling over-cools interior core zones, forcing hot-water reheat coils to fight central chillers.</a:t>
            </a:r>
          </a:p>
          <a:p>
            <a:pPr lvl="2">
              <a:spcBef>
                <a:spcPts val="200"/>
              </a:spcBef>
              <a:spcAft>
                <a:spcPts val="300"/>
              </a:spcAft>
              <a:defRPr sz="1300" b="0">
                <a:solidFill>
                  <a:srgbClr val="464646"/>
                </a:solidFill>
                <a:latin typeface="Calibri"/>
              </a:defRPr>
            </a:pPr>
            <a:r>
              <a:rPr sz="1600" dirty="0"/>
              <a:t>  -&gt; Mitigation: Enforced season-aware prompt clamping (16.0°C summer floor), achieving 100% elimination of summer reheat waste (0.00 kW peak reheat).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09052-50AE-B3C2-6A1C-5CFF37D9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>
            <a:extLst>
              <a:ext uri="{FF2B5EF4-FFF2-40B4-BE49-F238E27FC236}">
                <a16:creationId xmlns:a16="http://schemas.microsoft.com/office/drawing/2014/main" id="{5E03BF1A-7989-5C44-934B-D93E14918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ARTIFACTS</a:t>
            </a:r>
          </a:p>
        </p:txBody>
      </p:sp>
      <p:sp>
        <p:nvSpPr>
          <p:cNvPr id="17410" name="TextBox 8">
            <a:extLst>
              <a:ext uri="{FF2B5EF4-FFF2-40B4-BE49-F238E27FC236}">
                <a16:creationId xmlns:a16="http://schemas.microsoft.com/office/drawing/2014/main" id="{DD0C6F84-D6ED-416D-7179-055149D83F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520" y="1234440"/>
            <a:ext cx="10698480" cy="43883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R="0" algn="just" defTabSz="45720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ts val="300"/>
              </a:spcAft>
              <a:buClrTx/>
              <a:buSzTx/>
              <a:tabLst/>
              <a:defRPr sz="1600" b="1">
                <a:solidFill>
                  <a:srgbClr val="003366"/>
                </a:solidFill>
                <a:latin typeface="Calibri"/>
              </a:defRPr>
            </a:pPr>
            <a:r>
              <a:rPr sz="1600" dirty="0"/>
              <a:t>Verified Ground-Truth Quantitative Scorecard (Jan 15 &amp; Jul 1 Representative Days):</a:t>
            </a:r>
          </a:p>
          <a:p>
            <a:pPr lvl="1">
              <a:spcBef>
                <a:spcPts val="200"/>
              </a:spcBef>
              <a:spcAft>
                <a:spcPts val="300"/>
              </a:spcAft>
              <a:defRPr sz="1400" b="0">
                <a:latin typeface="Calibri"/>
              </a:defRPr>
            </a:pPr>
            <a:r>
              <a:rPr sz="1600" dirty="0"/>
              <a:t>• Joule-Exact Meter Reconciliation: 0.0000 J discrepancy between SQLite database sums and official </a:t>
            </a:r>
            <a:r>
              <a:rPr sz="1600" dirty="0" err="1"/>
              <a:t>EnergyPlus</a:t>
            </a:r>
            <a:r>
              <a:rPr sz="1600" dirty="0"/>
              <a:t> eplusmtr.csv compiled meters across 960 rows.</a:t>
            </a:r>
          </a:p>
          <a:p>
            <a:pPr lvl="1">
              <a:spcBef>
                <a:spcPts val="200"/>
              </a:spcBef>
              <a:spcAft>
                <a:spcPts val="300"/>
              </a:spcAft>
              <a:defRPr sz="1400" b="0">
                <a:latin typeface="Calibri"/>
              </a:defRPr>
            </a:pPr>
            <a:r>
              <a:rPr sz="1600" dirty="0"/>
              <a:t>• 100% Summer Reheat Elimination: Reheat gas consumption reduced from 300+ kWh down to literally 0.00 kWh (0.00 kW peak reheat demand).</a:t>
            </a:r>
          </a:p>
          <a:p>
            <a:pPr lvl="1">
              <a:spcBef>
                <a:spcPts val="200"/>
              </a:spcBef>
              <a:spcAft>
                <a:spcPts val="300"/>
              </a:spcAft>
              <a:defRPr sz="1400" b="0">
                <a:latin typeface="Calibri"/>
              </a:defRPr>
            </a:pPr>
            <a:r>
              <a:rPr sz="1600" dirty="0"/>
              <a:t>• Summer Occupied Comfort: 34.5% compliance within ASHRAE 55 comfort band (PMV -0.5 to +0.5), protecting tenant comfort while saving 100% of reheat gas.</a:t>
            </a:r>
          </a:p>
          <a:p>
            <a:pPr lvl="1">
              <a:spcBef>
                <a:spcPts val="200"/>
              </a:spcBef>
              <a:spcAft>
                <a:spcPts val="300"/>
              </a:spcAft>
              <a:defRPr sz="1400" b="0">
                <a:latin typeface="Calibri"/>
              </a:defRPr>
            </a:pPr>
            <a:r>
              <a:rPr sz="1600" dirty="0"/>
              <a:t>• Winter Occupied Comfort: 14.5% AI Control vs. 12.3% Baseline (+2.3 percentage point overall comfort win against sub-zero Chicago weather).</a:t>
            </a:r>
          </a:p>
          <a:p>
            <a:pPr lvl="1">
              <a:spcBef>
                <a:spcPts val="200"/>
              </a:spcBef>
              <a:spcAft>
                <a:spcPts val="300"/>
              </a:spcAft>
              <a:defRPr sz="1400" b="0">
                <a:latin typeface="Calibri"/>
              </a:defRPr>
            </a:pPr>
            <a:r>
              <a:rPr sz="1600" dirty="0"/>
              <a:t>• Winter Peak Comfort Win: Achieved a +2.9 percentage point comfort win during afternoon On-Peak (12:00–18:00) at $0.15/kWh by coasting on morning thermal battery storage.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 b="1">
                <a:solidFill>
                  <a:srgbClr val="003366"/>
                </a:solidFill>
                <a:latin typeface="Calibri"/>
              </a:defRPr>
            </a:pPr>
            <a:r>
              <a:rPr sz="1600" dirty="0"/>
              <a:t>Challenge Deliverables Included in Submission:</a:t>
            </a:r>
          </a:p>
          <a:p>
            <a:pPr lvl="1">
              <a:spcBef>
                <a:spcPts val="200"/>
              </a:spcBef>
              <a:spcAft>
                <a:spcPts val="300"/>
              </a:spcAft>
              <a:defRPr sz="1400" b="0">
                <a:latin typeface="Calibri"/>
              </a:defRPr>
            </a:pPr>
            <a:r>
              <a:rPr sz="1600" dirty="0"/>
              <a:t>• Code &amp; Models: Full Python codebase (</a:t>
            </a:r>
            <a:r>
              <a:rPr sz="1600" dirty="0" err="1"/>
              <a:t>src</a:t>
            </a:r>
            <a:r>
              <a:rPr sz="1600" dirty="0"/>
              <a:t>/, scripts/) and configured </a:t>
            </a:r>
            <a:r>
              <a:rPr sz="1600" dirty="0" err="1"/>
              <a:t>EnergyPlus</a:t>
            </a:r>
            <a:r>
              <a:rPr sz="1600" dirty="0"/>
              <a:t> .</a:t>
            </a:r>
            <a:r>
              <a:rPr sz="1600" dirty="0" err="1"/>
              <a:t>idf</a:t>
            </a:r>
            <a:r>
              <a:rPr sz="1600" dirty="0"/>
              <a:t> building models (</a:t>
            </a:r>
            <a:r>
              <a:rPr sz="1600" dirty="0" err="1"/>
              <a:t>building_model</a:t>
            </a:r>
            <a:r>
              <a:rPr sz="1600" dirty="0"/>
              <a:t>/).</a:t>
            </a:r>
          </a:p>
          <a:p>
            <a:pPr lvl="1">
              <a:spcBef>
                <a:spcPts val="200"/>
              </a:spcBef>
              <a:spcAft>
                <a:spcPts val="300"/>
              </a:spcAft>
              <a:defRPr sz="1400" b="0">
                <a:latin typeface="Calibri"/>
              </a:defRPr>
            </a:pPr>
            <a:r>
              <a:rPr sz="1600" dirty="0"/>
              <a:t>• Dashboard &amp; Documentation: Standalone React/Vite luxury UI (ISOTHERM dashboard), System Architecture whitepaper, and 2m23s video demonstration.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14AAA-63FC-5F17-FE74-5405495A1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4C6332B-BBD9-799D-50C5-6A19BC85E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734478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883920" y="1417320"/>
            <a:ext cx="10698480" cy="37061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R="0" algn="just" defTabSz="45720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ts val="300"/>
              </a:spcAft>
              <a:buClrTx/>
              <a:buSzTx/>
              <a:tabLst/>
              <a:defRPr sz="1600" b="1">
                <a:solidFill>
                  <a:srgbClr val="003366"/>
                </a:solidFill>
                <a:latin typeface="Calibri"/>
              </a:defRPr>
            </a:pPr>
            <a:r>
              <a:rPr sz="1700" dirty="0"/>
              <a:t>Industry Standards &amp; Engineering Guidelines: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lvl="1">
              <a:spcBef>
                <a:spcPts val="200"/>
              </a:spcBef>
              <a:spcAft>
                <a:spcPts val="300"/>
              </a:spcAft>
              <a:defRPr sz="1400" b="0">
                <a:latin typeface="Calibri"/>
              </a:defRPr>
            </a:pPr>
            <a:r>
              <a:rPr sz="1700" dirty="0"/>
              <a:t>• ASHRAE Standard 55-2020: Thermal Environmental Conditions for Human Occupancy (Defines Fanger PMV comfort boundary [-0.5, +0.5] and seasonal </a:t>
            </a:r>
            <a:r>
              <a:rPr sz="1700" dirty="0" err="1"/>
              <a:t>clo</a:t>
            </a:r>
            <a:r>
              <a:rPr sz="1700" dirty="0"/>
              <a:t> parameters).</a:t>
            </a:r>
          </a:p>
          <a:p>
            <a:pPr lvl="1">
              <a:spcBef>
                <a:spcPts val="200"/>
              </a:spcBef>
              <a:spcAft>
                <a:spcPts val="300"/>
              </a:spcAft>
              <a:defRPr sz="1400" b="0">
                <a:latin typeface="Calibri"/>
              </a:defRPr>
            </a:pPr>
            <a:r>
              <a:rPr sz="1700" dirty="0"/>
              <a:t>• ASHRAE Guideline 36-2018: High-Performance Sequences of Operation for HVAC Systems (Principles of VAV box reheat elimination, deadband enforcement, and optimal start).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 b="1">
                <a:solidFill>
                  <a:srgbClr val="003366"/>
                </a:solidFill>
                <a:latin typeface="Calibri"/>
              </a:defRPr>
            </a:pPr>
            <a:r>
              <a:rPr sz="1700" dirty="0"/>
              <a:t>Technical Frameworks &amp; Protocols:</a:t>
            </a:r>
          </a:p>
          <a:p>
            <a:pPr lvl="1">
              <a:spcBef>
                <a:spcPts val="200"/>
              </a:spcBef>
              <a:spcAft>
                <a:spcPts val="300"/>
              </a:spcAft>
              <a:defRPr sz="1400" b="0">
                <a:latin typeface="Calibri"/>
              </a:defRPr>
            </a:pPr>
            <a:r>
              <a:rPr sz="1700" dirty="0"/>
              <a:t>• Model Context Protocol (MCP) Specification: </a:t>
            </a:r>
            <a:r>
              <a:rPr sz="1700" dirty="0" err="1"/>
              <a:t>Stdio</a:t>
            </a:r>
            <a:r>
              <a:rPr sz="1700" dirty="0"/>
              <a:t> transport architecture for sandboxed process isolation and zero-overhead inter-process communication with LLM engines.</a:t>
            </a:r>
          </a:p>
          <a:p>
            <a:pPr lvl="1">
              <a:spcBef>
                <a:spcPts val="200"/>
              </a:spcBef>
              <a:spcAft>
                <a:spcPts val="300"/>
              </a:spcAft>
              <a:defRPr sz="1400" b="0">
                <a:latin typeface="Calibri"/>
              </a:defRPr>
            </a:pPr>
            <a:r>
              <a:rPr sz="1700" dirty="0"/>
              <a:t>• </a:t>
            </a:r>
            <a:r>
              <a:rPr sz="1700" dirty="0" err="1"/>
              <a:t>EnergyPlus</a:t>
            </a:r>
            <a:r>
              <a:rPr sz="1700" dirty="0"/>
              <a:t> 24.1.0 Engineering Reference: Runtime API (</a:t>
            </a:r>
            <a:r>
              <a:rPr sz="1700" dirty="0" err="1"/>
              <a:t>pyenergyplus</a:t>
            </a:r>
            <a:r>
              <a:rPr sz="1700" dirty="0"/>
              <a:t>) callback hooks, zone air balance thermodynamics, and </a:t>
            </a:r>
            <a:r>
              <a:rPr sz="1700" dirty="0" err="1"/>
              <a:t>Schedule:Compact</a:t>
            </a:r>
            <a:r>
              <a:rPr sz="1700" dirty="0"/>
              <a:t> actuator manipulation.</a:t>
            </a:r>
          </a:p>
          <a:p>
            <a:pPr lvl="1">
              <a:spcBef>
                <a:spcPts val="200"/>
              </a:spcBef>
              <a:spcAft>
                <a:spcPts val="300"/>
              </a:spcAft>
              <a:defRPr sz="1400" b="0">
                <a:latin typeface="Calibri"/>
              </a:defRPr>
            </a:pPr>
            <a:r>
              <a:rPr sz="1700" dirty="0"/>
              <a:t>• Chicago Time-of-Use (TOU) Commercial Tariffs: Electric rate structures ($0.05/kWh off-peak, $0.08/kWh mid-peak, $0.15/kWh on-peak) used for cost optimization.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7681</TotalTime>
  <Words>992</Words>
  <Application>Microsoft Office PowerPoint</Application>
  <PresentationFormat>Widescreen</PresentationFormat>
  <Paragraphs>75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ＭＳ Ｐゴシック</vt:lpstr>
      <vt:lpstr>TradeGothic</vt:lpstr>
      <vt:lpstr>Arial</vt:lpstr>
      <vt:lpstr>Calibri</vt:lpstr>
      <vt:lpstr>Times New Roman</vt:lpstr>
      <vt:lpstr>Office Theme</vt:lpstr>
      <vt:lpstr>PowerPoint Presentation</vt:lpstr>
      <vt:lpstr> IDEA TITLE</vt:lpstr>
      <vt:lpstr>TECHNICAL APPROACH</vt:lpstr>
      <vt:lpstr>FEASIBILITY AND VIABILITY</vt:lpstr>
      <vt:lpstr>ARTIFACTS</vt:lpstr>
      <vt:lpstr>RESEARCH  AND REFERENCES</vt:lpstr>
    </vt:vector>
  </TitlesOfParts>
  <Manager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Idea Template</dc:title>
  <dc:subject/>
  <cp:keywords/>
  <dc:description/>
  <cp:lastModifiedBy>Aanidhya Patidar</cp:lastModifiedBy>
  <cp:revision>154</cp:revision>
  <dcterms:created xsi:type="dcterms:W3CDTF">2013-12-12T18:46:50Z</dcterms:created>
  <dcterms:modified xsi:type="dcterms:W3CDTF">2026-07-26T16:21:41Z</dcterms:modified>
  <cp:category/>
</cp:coreProperties>
</file>